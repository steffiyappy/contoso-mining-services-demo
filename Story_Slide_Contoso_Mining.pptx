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29260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CONTOSO MINING SERVICES  ·  GM COPILOT IMMERSION  ·  MINING SERVICES &amp; EPC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548640"/>
            <a:ext cx="11457432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3291840" cy="1554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900" b="1" i="0">
                <a:solidFill>
                  <a:srgbClr val="B45309"/>
                </a:solidFill>
                <a:latin typeface="Segoe UI"/>
              </a:rPr>
              <a:t>MICROSOFT 365 COPILOT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AI Assistant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to AI Doer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731520"/>
            <a:ext cx="4023360" cy="1691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B45309"/>
                </a:solidFill>
                <a:latin typeface="Segoe UI"/>
              </a:rPr>
              <a:t>PERSONA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Pak Surya Wibawa</a:t>
            </a:r>
          </a:p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General Manager · Operations · Contoso Mining Services</a:t>
            </a:r>
          </a:p>
          <a:p>
            <a:pPr algn="l"/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/>
            <a:r>
              <a:rPr sz="800" b="1" i="0">
                <a:solidFill>
                  <a:srgbClr val="B45309"/>
                </a:solidFill>
                <a:latin typeface="Segoe UI"/>
              </a:rPr>
              <a:t>THE MISSION</a:t>
            </a:r>
          </a:p>
          <a:p>
            <a:pPr algn="l"/>
            <a:r>
              <a:rPr sz="1000" b="0" i="0">
                <a:solidFill>
                  <a:srgbClr val="CBD5E1"/>
                </a:solidFill>
                <a:latin typeface="Segoe UI"/>
              </a:rPr>
              <a:t>Stay on top of the day, sharpen a market view, and ship a complete day-end production pack to the Director of Operations before the team leaves 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777240"/>
            <a:ext cx="3291840" cy="1417320"/>
          </a:xfrm>
          <a:prstGeom prst="roundRect">
            <a:avLst/>
          </a:prstGeom>
          <a:solidFill>
            <a:srgbClr val="172244"/>
          </a:solidFill>
          <a:ln w="6350">
            <a:solidFill>
              <a:srgbClr val="2B3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868680"/>
            <a:ext cx="30175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B45309"/>
                </a:solidFill>
                <a:latin typeface="Segoe UI"/>
              </a:rPr>
              <a:t>THE PUNCHLINE</a:t>
            </a:r>
          </a:p>
          <a:p>
            <a:pPr algn="l"/>
            <a:r>
              <a:rPr sz="1300" b="1" i="1">
                <a:solidFill>
                  <a:srgbClr val="FFFFFF"/>
                </a:solidFill>
                <a:latin typeface="Segoe UI"/>
              </a:rPr>
              <a:t>Under two hours.</a:t>
            </a:r>
          </a:p>
          <a:p>
            <a:pPr algn="l"/>
            <a:r>
              <a:rPr sz="1300" b="1" i="1">
                <a:solidFill>
                  <a:srgbClr val="FFFFFF"/>
                </a:solidFill>
                <a:latin typeface="Segoe UI"/>
              </a:rPr>
              <a:t>Four Copilot moments.</a:t>
            </a:r>
          </a:p>
          <a:p>
            <a:pPr algn="l"/>
            <a:r>
              <a:rPr sz="1200" b="1" i="1">
                <a:solidFill>
                  <a:srgbClr val="FFFFFF"/>
                </a:solidFill>
                <a:latin typeface="Segoe UI"/>
              </a:rPr>
              <a:t>From morning brief</a:t>
            </a:r>
          </a:p>
          <a:p>
            <a:pPr algn="l"/>
            <a:r>
              <a:rPr sz="1200" b="1" i="1">
                <a:solidFill>
                  <a:srgbClr val="FFFFFF"/>
                </a:solidFill>
                <a:latin typeface="Segoe UI"/>
              </a:rPr>
              <a:t>to a full day-end pack.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06040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A202C"/>
                </a:solidFill>
                <a:latin typeface="Segoe UI"/>
              </a:rPr>
              <a:t>Four Copilot moments  ·  under two hours  ·  ends with a full day-end pack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017520"/>
            <a:ext cx="2741599" cy="3566160"/>
          </a:xfrm>
          <a:prstGeom prst="roundRect">
            <a:avLst/>
          </a:prstGeom>
          <a:solidFill>
            <a:srgbClr val="F0F6FF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2741599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63240"/>
            <a:ext cx="2467279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01  </a:t>
            </a:r>
            <a:r>
              <a:rPr sz="900" b="1">
                <a:solidFill>
                  <a:srgbClr val="FFFFFF"/>
                </a:solidFill>
                <a:latin typeface="Segoe UI"/>
              </a:rPr>
              <a:t>DAILY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57600"/>
            <a:ext cx="2412415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Segoe UI"/>
              </a:rPr>
              <a:t>HTML dashboard + narrative</a:t>
            </a:r>
          </a:p>
          <a:p>
            <a:pPr algn="l"/>
            <a:r>
              <a:rPr sz="900" b="1" i="1">
                <a:solidFill>
                  <a:srgbClr val="B45309"/>
                </a:solidFill>
                <a:latin typeface="Segoe UI"/>
              </a:rPr>
              <a:t>Copilot Chat · Researcher</a:t>
            </a:r>
          </a:p>
          <a:p>
            <a:pPr algn="l"/>
            <a:r>
              <a:rPr sz="400" b="0" i="0">
                <a:solidFill>
                  <a:srgbClr val="1A202C"/>
                </a:solidFill>
                <a:latin typeface="Segoe UI"/>
              </a:rPr>
              <a:t> </a:t>
            </a:r>
          </a:p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Two flavours of the same brief: a one-screen HTML dashboard rendered in Copilot Chat, plus a richer narrative version in Researcher.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1951" y="3017520"/>
            <a:ext cx="2741599" cy="3566160"/>
          </a:xfrm>
          <a:prstGeom prst="roundRect">
            <a:avLst/>
          </a:prstGeom>
          <a:solidFill>
            <a:srgbClr val="F0F6FF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71951" y="3017520"/>
            <a:ext cx="2741599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9111" y="3063240"/>
            <a:ext cx="2467279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02  </a:t>
            </a:r>
            <a:r>
              <a:rPr sz="900" b="1">
                <a:solidFill>
                  <a:srgbClr val="FFFFFF"/>
                </a:solidFill>
                <a:latin typeface="Segoe UI"/>
              </a:rPr>
              <a:t>CRITIQUE + COUNCIL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6543" y="3657600"/>
            <a:ext cx="2412415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Segoe UI"/>
              </a:rPr>
              <a:t>Stress-test the market view</a:t>
            </a:r>
          </a:p>
          <a:p>
            <a:pPr algn="l"/>
            <a:r>
              <a:rPr sz="900" b="1" i="1">
                <a:solidFill>
                  <a:srgbClr val="B45309"/>
                </a:solidFill>
                <a:latin typeface="Segoe UI"/>
              </a:rPr>
              <a:t>Researcher</a:t>
            </a:r>
          </a:p>
          <a:p>
            <a:pPr algn="l"/>
            <a:r>
              <a:rPr sz="400" b="0" i="0">
                <a:solidFill>
                  <a:srgbClr val="1A202C"/>
                </a:solidFill>
                <a:latin typeface="Segoe UI"/>
              </a:rPr>
              <a:t> </a:t>
            </a:r>
          </a:p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Same market question, two stress-tests — Researcher Critique and Model Council, side-by-side — pick the stronger answer.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3017520"/>
            <a:ext cx="2741599" cy="3566160"/>
          </a:xfrm>
          <a:prstGeom prst="roundRect">
            <a:avLst/>
          </a:prstGeom>
          <a:solidFill>
            <a:srgbClr val="F0F6FF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3017520"/>
            <a:ext cx="2741599" cy="502920"/>
          </a:xfrm>
          <a:prstGeom prst="rect">
            <a:avLst/>
          </a:prstGeom>
          <a:solidFill>
            <a:srgbClr val="155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5303" y="3063240"/>
            <a:ext cx="2467279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03  </a:t>
            </a:r>
            <a:r>
              <a:rPr sz="900" b="1">
                <a:solidFill>
                  <a:srgbClr val="FFFFFF"/>
                </a:solidFill>
                <a:latin typeface="Segoe UI"/>
              </a:rPr>
              <a:t>PRODUCTION DAY-END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3657600"/>
            <a:ext cx="2412415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Segoe UI"/>
              </a:rPr>
              <a:t>One Cowork · six deliverables</a:t>
            </a:r>
          </a:p>
          <a:p>
            <a:pPr algn="l"/>
            <a:r>
              <a:rPr sz="900" b="1" i="1">
                <a:solidFill>
                  <a:srgbClr val="B45309"/>
                </a:solidFill>
                <a:latin typeface="Segoe UI"/>
              </a:rPr>
              <a:t>Cowork</a:t>
            </a:r>
          </a:p>
          <a:p>
            <a:pPr algn="l"/>
            <a:r>
              <a:rPr sz="400" b="0" i="0">
                <a:solidFill>
                  <a:srgbClr val="1A202C"/>
                </a:solidFill>
                <a:latin typeface="Segoe UI"/>
              </a:rPr>
              <a:t> </a:t>
            </a:r>
          </a:p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Cowork reads the daily production file and produces a dashboard, two decks (BCG/McKinsey + infographic with hyperlinks), a Word memo, an email and a meeting invite.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4335" y="3017520"/>
            <a:ext cx="2741599" cy="3566160"/>
          </a:xfrm>
          <a:prstGeom prst="roundRect">
            <a:avLst/>
          </a:prstGeom>
          <a:solidFill>
            <a:srgbClr val="F0F6FF"/>
          </a:solidFill>
          <a:ln w="6350">
            <a:solidFill>
              <a:srgbClr val="D1D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4335" y="3017520"/>
            <a:ext cx="2741599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1495" y="3063240"/>
            <a:ext cx="2467279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04  </a:t>
            </a:r>
            <a:r>
              <a:rPr sz="900" b="1">
                <a:solidFill>
                  <a:srgbClr val="FFFFFF"/>
                </a:solidFill>
                <a:latin typeface="Segoe UI"/>
              </a:rPr>
              <a:t>VISUAL INFOGRAPHIC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8927" y="3657600"/>
            <a:ext cx="2412415" cy="2788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  <a:latin typeface="Segoe UI"/>
              </a:rPr>
              <a:t>Branded one-page poster</a:t>
            </a:r>
          </a:p>
          <a:p>
            <a:pPr algn="l"/>
            <a:r>
              <a:rPr sz="900" b="1" i="1">
                <a:solidFill>
                  <a:srgbClr val="B45309"/>
                </a:solidFill>
                <a:latin typeface="Segoe UI"/>
              </a:rPr>
              <a:t>Copilot Create (Designer)</a:t>
            </a:r>
          </a:p>
          <a:p>
            <a:pPr algn="l"/>
            <a:r>
              <a:rPr sz="400" b="0" i="0">
                <a:solidFill>
                  <a:srgbClr val="1A202C"/>
                </a:solidFill>
                <a:latin typeface="Segoe UI"/>
              </a:rPr>
              <a:t> </a:t>
            </a:r>
          </a:p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Copilot Create generates a brand-aligned infographic about Contoso Mining Services from a single prompt — no design tool needed.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Contoso Mining Services · M365 Copilot GM Immersion · Story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