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Contoso Mining Services · GM Copilot Immersion  ·  Mining Services &amp; EPC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1475720" cy="1783080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1475720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F59E0B"/>
                </a:solidFill>
                <a:latin typeface="Calibri"/>
              </a:rPr>
              <a:t>MICROSOFT 365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AI Assistant</a:t>
            </a:r>
          </a:p>
          <a:p>
            <a:r>
              <a:rPr sz="2200" b="1" i="0">
                <a:solidFill>
                  <a:srgbClr val="FFFFFF"/>
                </a:solidFill>
                <a:latin typeface="Calibri"/>
              </a:rPr>
              <a:t>to AI Doer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F59E0B"/>
                </a:solidFill>
                <a:latin typeface="Calibri"/>
              </a:rPr>
              <a:t>PERSONA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9280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Pak Surya Wibawa</a:t>
            </a:r>
          </a:p>
          <a:p>
            <a:r>
              <a:rPr sz="1000" b="0" i="0">
                <a:solidFill>
                  <a:srgbClr val="CBD5E1"/>
                </a:solidFill>
                <a:latin typeface="Calibri"/>
              </a:rPr>
              <a:t>General Manager · Operations · Contoso Mining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68580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F59E0B"/>
                </a:solidFill>
                <a:latin typeface="Calibri"/>
              </a:rPr>
              <a:t>THE 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914400"/>
            <a:ext cx="36576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CBD5E1"/>
                </a:solidFill>
                <a:latin typeface="Calibri"/>
              </a:rPr>
              <a:t>Monthly project review: production tonnes, equipment availability, HSE and an EPC bid-pipeline update for the Director of Operations by Friday.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4" y="667512"/>
            <a:ext cx="3611880" cy="1463040"/>
          </a:xfrm>
          <a:prstGeom prst="rect">
            <a:avLst/>
          </a:prstGeom>
          <a:solidFill>
            <a:srgbClr val="1E2C4A"/>
          </a:solidFill>
          <a:ln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6" y="777240"/>
            <a:ext cx="3282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F59E0B"/>
                </a:solidFill>
                <a:latin typeface="Calibri"/>
              </a:rPr>
              <a:t>THE PUNCHLINE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6" y="1005840"/>
            <a:ext cx="32826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1">
                <a:solidFill>
                  <a:srgbClr val="FFFFFF"/>
                </a:solidFill>
                <a:latin typeface="Calibri"/>
              </a:rPr>
              <a:t>One workday.</a:t>
            </a:r>
          </a:p>
          <a:p>
            <a:r>
              <a:rPr sz="1400" b="1" i="1">
                <a:solidFill>
                  <a:srgbClr val="FFFFFF"/>
                </a:solidFill>
                <a:latin typeface="Calibri"/>
              </a:rPr>
              <a:t>Ten Copilot moments.</a:t>
            </a:r>
          </a:p>
          <a:p>
            <a:r>
              <a:rPr sz="1300" b="1" i="1">
                <a:solidFill>
                  <a:srgbClr val="FFFFFF"/>
                </a:solidFill>
                <a:latin typeface="Calibri"/>
              </a:rPr>
              <a:t>From morning briefing</a:t>
            </a:r>
          </a:p>
          <a:p>
            <a:r>
              <a:rPr sz="1300" b="1" i="1">
                <a:solidFill>
                  <a:srgbClr val="FFFFFF"/>
                </a:solidFill>
                <a:latin typeface="Calibri"/>
              </a:rPr>
              <a:t>to a live HTML dashboard.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77440"/>
            <a:ext cx="11475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A202C"/>
                </a:solidFill>
                <a:latin typeface="Calibri"/>
              </a:rPr>
              <a:t>Ten Copilot moments across one workday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43200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743200"/>
            <a:ext cx="2782747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01   Daily Briefing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182112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Morning brief in 3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493008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0E7490"/>
                </a:solidFill>
                <a:latin typeface="Calibri"/>
              </a:rPr>
              <a:t>Researcher · Critique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74904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Researcher (Critique) drafts a market &amp; peer scan and self-reviews sources before delivering one polished brief.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58235" y="2743200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58235" y="2743200"/>
            <a:ext cx="2782747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9675" y="2788920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02   Quarter Closing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7963" y="3182112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Multi-step quarter-close prep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7963" y="3493008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0F766E"/>
                </a:solidFill>
                <a:latin typeface="Calibri"/>
              </a:rPr>
              <a:t>Cowork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7963" y="374904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Cowork pulls KPIs, the strategic memo and brand pack into a quarter-closing pre-read in one prompt.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0711" y="2743200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0711" y="2743200"/>
            <a:ext cx="2782747" cy="36576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2151" y="2788920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03   Market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0439" y="3182112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Critique &amp; Model Council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0439" y="3493008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155E75"/>
                </a:solidFill>
                <a:latin typeface="Calibri"/>
              </a:rPr>
              <a:t>Researcher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0439" y="374904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Run Critique + Model Council on the same question — see two answers compared side-by-side, pick the stronger.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43187" y="2743200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43187" y="2743200"/>
            <a:ext cx="2782747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4627" y="2788920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04   PowerPoint Deck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2915" y="3182112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BCG / McKinsey-style draft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2915" y="3493008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1E3A5F"/>
                </a:solidFill>
                <a:latin typeface="Calibri"/>
              </a:rPr>
              <a:t>PowerPoint Copilot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2915" y="374904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Copilot in PowerPoint drafts an 8-slide consultancy-style deck from the memo and KPI workbook.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096512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4096512"/>
            <a:ext cx="2782747" cy="365760"/>
          </a:xfrm>
          <a:prstGeom prst="rect">
            <a:avLst/>
          </a:prstGeom>
          <a:solidFill>
            <a:srgbClr val="8B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142232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05   Visual Infographic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4535424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Branded one-page poster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484632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8B2635"/>
                </a:solidFill>
                <a:latin typeface="Calibri"/>
              </a:rPr>
              <a:t>Copilot Create (Designer)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" y="510235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Copilot Create generates a brand-aligned infographic poster from a single prompt — no design tool.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58235" y="4096512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58235" y="4096512"/>
            <a:ext cx="2782747" cy="36576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9675" y="4142232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06   Teams Recap → Minutes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67963" y="4535424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Catch up on a missed meeting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67963" y="484632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7C2D12"/>
                </a:solidFill>
                <a:latin typeface="Calibri"/>
              </a:rPr>
              <a:t>Teams · Word Copilot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67963" y="510235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Teams Recap summarises a missed meeting; Copilot in Word turns the transcript into formal minutes.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50711" y="4096512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50711" y="4096512"/>
            <a:ext cx="2782747" cy="3657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42151" y="4142232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07   Excel Power Hour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0439" y="4535424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Chat · Edit · Plan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0439" y="484632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14532D"/>
                </a:solidFill>
                <a:latin typeface="Calibri"/>
              </a:rPr>
              <a:t>Copilot in Excel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0439" y="510235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Insights from your KPI workbook, surgical Edit changes, and multi-step Plan — all on one file.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43187" y="4096512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43187" y="4096512"/>
            <a:ext cx="2782747" cy="365760"/>
          </a:xfrm>
          <a:prstGeom prst="rect">
            <a:avLst/>
          </a:prstGeom>
          <a:solidFill>
            <a:srgbClr val="365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34627" y="4142232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08   Analyst Agent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52915" y="4535424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Multiple perspectives, same data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52915" y="484632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365314"/>
                </a:solidFill>
                <a:latin typeface="Calibri"/>
              </a:rPr>
              <a:t>Analyst Agent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52915" y="510235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Reasons across the data as a CFO, COO and Strategy Director — three angles, one dataset.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449824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5760" y="5449824"/>
            <a:ext cx="2782747" cy="36576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495544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09   Personalised Cascade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5488" y="5888736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14 letters, one prompt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5488" y="619963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4C1D95"/>
                </a:solidFill>
                <a:latin typeface="Calibri"/>
              </a:rPr>
              <a:t>Cowork · Outlook drafts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5488" y="6455664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One Cowork prompt produces 14 personalised letters from the GM, each tuned to that person's data.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58235" y="5449824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258235" y="5449824"/>
            <a:ext cx="2782747" cy="3657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49675" y="5495544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10   CV Screening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67963" y="5888736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12 CVs from SharePoint, ranked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67963" y="619963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5B21B6"/>
                </a:solidFill>
                <a:latin typeface="Calibri"/>
              </a:rPr>
              <a:t>Cowork · SharePoint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67963" y="6455664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Point Cowork at a SharePoint folder of 12 CVs and get a ranked shortlist with strengths and gaps.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50711" y="5449824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50711" y="5449824"/>
            <a:ext cx="2782747" cy="3657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42151" y="5495544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＋   Extras + Power Move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0439" y="5888736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Outlook · Word · industry use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60439" y="619963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475569"/>
                </a:solidFill>
                <a:latin typeface="Calibri"/>
              </a:rPr>
              <a:t>If time allows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0439" y="6455664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Lightning round: real Outlook thread catch-up, executive reply draft, long-doc Q&amp;A, industry power move.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43187" y="5449824"/>
            <a:ext cx="2782747" cy="1243584"/>
          </a:xfrm>
          <a:prstGeom prst="rect">
            <a:avLst/>
          </a:prstGeom>
          <a:solidFill>
            <a:srgbClr val="FEF9C3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71203" y="5596128"/>
            <a:ext cx="25267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78350F"/>
                </a:solidFill>
                <a:latin typeface="Calibri"/>
              </a:rPr>
              <a:t>THE VALUE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71203" y="5907024"/>
            <a:ext cx="2526715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78350F"/>
                </a:solidFill>
                <a:latin typeface="Calibri"/>
              </a:rPr>
              <a:t>One GM. One workday.
From morning briefing to a live HTML dashboard — without leaving Microsoft 365.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